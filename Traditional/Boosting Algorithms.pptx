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5debafd9f768052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5debafd9f768052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5debafd9f768052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5debafd9f768052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h5debafd9f768052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h5debafd9f768052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h5debafd9f768052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h5debafd9f768052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h5debafd9f768052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h5debafd9f768052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h5debafd9f768052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h5debafd9f768052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5debafd9f768052a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h5debafd9f768052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5debafd9f768052a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h5debafd9f768052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5debafd9f768052a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h5debafd9f768052a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5debafd9f768052a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h5debafd9f768052a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5debafd9f768052a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5debafd9f768052a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5debafd9f768052a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5debafd9f768052a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5debafd9f768052a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h5debafd9f768052a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h5debafd9f768052a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h5debafd9f768052a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h5debafd9f768052a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h5debafd9f768052a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5debafd9f768052a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h5debafd9f768052a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3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3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767">
                <a:solidFill>
                  <a:schemeClr val="lt1"/>
                </a:solidFill>
              </a:rPr>
              <a:t>Boosting Algorithms</a:t>
            </a:r>
            <a:endParaRPr b="1" sz="3767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900">
                <a:solidFill>
                  <a:schemeClr val="lt1"/>
                </a:solidFill>
              </a:rPr>
              <a:t>AdaBoost | XGBoost | LightGBM</a:t>
            </a:r>
            <a:endParaRPr b="1" sz="2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chemeClr val="lt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900">
                <a:solidFill>
                  <a:schemeClr val="lt1"/>
                </a:solidFill>
              </a:rPr>
              <a:t>Presented by: Prema J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</p:txBody>
      </p:sp>
      <p:sp>
        <p:nvSpPr>
          <p:cNvPr id="55" name="Google Shape;55;p13"/>
          <p:cNvSpPr txBox="1"/>
          <p:nvPr/>
        </p:nvSpPr>
        <p:spPr>
          <a:xfrm>
            <a:off x="5022950" y="1701100"/>
            <a:ext cx="415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600">
                <a:solidFill>
                  <a:srgbClr val="073763"/>
                </a:solidFill>
              </a:rPr>
              <a:t>What is Boosting?</a:t>
            </a:r>
            <a:endParaRPr b="1" sz="2600">
              <a:solidFill>
                <a:srgbClr val="073763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2108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45"/>
              <a:buChar char="●"/>
            </a:pPr>
            <a:r>
              <a:rPr lang="en-GB" sz="1945">
                <a:solidFill>
                  <a:schemeClr val="dk1"/>
                </a:solidFill>
              </a:rPr>
              <a:t>Boosting is an </a:t>
            </a:r>
            <a:r>
              <a:rPr b="1" lang="en-GB" sz="1945">
                <a:solidFill>
                  <a:schemeClr val="dk1"/>
                </a:solidFill>
              </a:rPr>
              <a:t>ensemble machine learning technique</a:t>
            </a:r>
            <a:r>
              <a:rPr lang="en-GB" sz="1945">
                <a:solidFill>
                  <a:schemeClr val="dk1"/>
                </a:solidFill>
              </a:rPr>
              <a:t>.</a:t>
            </a:r>
            <a:endParaRPr sz="1945">
              <a:solidFill>
                <a:schemeClr val="dk1"/>
              </a:solidFill>
            </a:endParaRPr>
          </a:p>
          <a:p>
            <a:pPr indent="-352108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45"/>
              <a:buChar char="●"/>
            </a:pPr>
            <a:r>
              <a:rPr lang="en-GB" sz="1945">
                <a:solidFill>
                  <a:schemeClr val="dk1"/>
                </a:solidFill>
              </a:rPr>
              <a:t>Ensemble means </a:t>
            </a:r>
            <a:r>
              <a:rPr b="1" lang="en-GB" sz="1945">
                <a:solidFill>
                  <a:schemeClr val="dk1"/>
                </a:solidFill>
              </a:rPr>
              <a:t>combining multiple models</a:t>
            </a:r>
            <a:r>
              <a:rPr lang="en-GB" sz="1945">
                <a:solidFill>
                  <a:schemeClr val="dk1"/>
                </a:solidFill>
              </a:rPr>
              <a:t> to create a stronger model.</a:t>
            </a:r>
            <a:endParaRPr sz="1945">
              <a:solidFill>
                <a:schemeClr val="dk1"/>
              </a:solidFill>
            </a:endParaRPr>
          </a:p>
          <a:p>
            <a:pPr indent="-352108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45"/>
              <a:buChar char="●"/>
            </a:pPr>
            <a:r>
              <a:rPr lang="en-GB" sz="1945">
                <a:solidFill>
                  <a:schemeClr val="dk1"/>
                </a:solidFill>
              </a:rPr>
              <a:t>Boosting builds models </a:t>
            </a:r>
            <a:r>
              <a:rPr b="1" lang="en-GB" sz="1945">
                <a:solidFill>
                  <a:schemeClr val="dk1"/>
                </a:solidFill>
              </a:rPr>
              <a:t>one after another</a:t>
            </a:r>
            <a:r>
              <a:rPr lang="en-GB" sz="1945">
                <a:solidFill>
                  <a:schemeClr val="dk1"/>
                </a:solidFill>
              </a:rPr>
              <a:t>.</a:t>
            </a:r>
            <a:endParaRPr sz="1945">
              <a:solidFill>
                <a:schemeClr val="dk1"/>
              </a:solidFill>
            </a:endParaRPr>
          </a:p>
          <a:p>
            <a:pPr indent="-352108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45"/>
              <a:buChar char="●"/>
            </a:pPr>
            <a:r>
              <a:rPr lang="en-GB" sz="1945">
                <a:solidFill>
                  <a:schemeClr val="dk1"/>
                </a:solidFill>
              </a:rPr>
              <a:t>Each new model tries to improve the mistakes made by previous models.</a:t>
            </a:r>
            <a:endParaRPr sz="1945">
              <a:solidFill>
                <a:schemeClr val="dk1"/>
              </a:solidFill>
            </a:endParaRPr>
          </a:p>
          <a:p>
            <a:pPr indent="-352108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45"/>
              <a:buChar char="●"/>
            </a:pPr>
            <a:r>
              <a:rPr lang="en-GB" sz="1945">
                <a:solidFill>
                  <a:schemeClr val="dk1"/>
                </a:solidFill>
              </a:rPr>
              <a:t>Finally, all the models are combined to make the prediction.</a:t>
            </a:r>
            <a:endParaRPr sz="1945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945">
                <a:solidFill>
                  <a:schemeClr val="dk1"/>
                </a:solidFill>
              </a:rPr>
              <a:t>Simple idea:</a:t>
            </a:r>
            <a:endParaRPr b="1" sz="1945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945">
                <a:solidFill>
                  <a:schemeClr val="dk1"/>
                </a:solidFill>
              </a:rPr>
              <a:t>Many weak models → One strong model</a:t>
            </a:r>
            <a:endParaRPr b="1" sz="1945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30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-13400"/>
            <a:ext cx="308075" cy="51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403550" y="184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GB" sz="2600">
                <a:solidFill>
                  <a:srgbClr val="073763"/>
                </a:solidFill>
              </a:rPr>
              <a:t>What is a Weak Learner?</a:t>
            </a:r>
            <a:endParaRPr b="1" sz="2600">
              <a:solidFill>
                <a:srgbClr val="073763"/>
              </a:solidFill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903175"/>
            <a:ext cx="8520600" cy="4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A </a:t>
            </a:r>
            <a:r>
              <a:rPr b="1" lang="en-GB" sz="1200">
                <a:solidFill>
                  <a:schemeClr val="dk1"/>
                </a:solidFill>
              </a:rPr>
              <a:t>weak learner</a:t>
            </a:r>
            <a:r>
              <a:rPr lang="en-GB" sz="1200">
                <a:solidFill>
                  <a:schemeClr val="dk1"/>
                </a:solidFill>
              </a:rPr>
              <a:t> is a simple model that gives reasonably good predictions but is not very powerful by itself.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For example: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Weak Tree 1 → Prediction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Weak Tree 2 → Prediction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Weak Tree 3 → Prediction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       ↓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Combined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       ↓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Strong Model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A common weak learner used in boosting is a </a:t>
            </a:r>
            <a:r>
              <a:rPr b="1" lang="en-GB" sz="1200">
                <a:solidFill>
                  <a:schemeClr val="dk1"/>
                </a:solidFill>
              </a:rPr>
              <a:t>small Decision Tree</a:t>
            </a:r>
            <a:r>
              <a:rPr lang="en-GB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Important point:</a:t>
            </a:r>
            <a:endParaRPr b="1" sz="12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One weak learner may not be very accurate, but many weak learners together can create a strong model.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-13400"/>
            <a:ext cx="308075" cy="51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403550" y="184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GB" sz="2600">
                <a:solidFill>
                  <a:srgbClr val="073763"/>
                </a:solidFill>
              </a:rPr>
              <a:t>Why Do We Need Boosting?</a:t>
            </a:r>
            <a:endParaRPr b="1" sz="2600">
              <a:solidFill>
                <a:srgbClr val="073763"/>
              </a:solidFill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474550" y="826625"/>
            <a:ext cx="8357700" cy="43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Suppose we have a dataset of students.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We want to predict: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Will the student PASS or FAIL?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A single decision tree might make some mistakes.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Instead of creating only one tree: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Tree 1 → makes some mistakes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              ↓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Tree 2 → learns from those mistakes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              ↓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Tree 3 → improves further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              ↓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        Strong Model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Therefore: </a:t>
            </a:r>
            <a:r>
              <a:rPr b="1" lang="en-GB" sz="1200">
                <a:solidFill>
                  <a:schemeClr val="dk1"/>
                </a:solidFill>
              </a:rPr>
              <a:t>Boosting improves the model step-by-step.</a:t>
            </a:r>
            <a:endParaRPr b="1"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-13400"/>
            <a:ext cx="308075" cy="51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403550" y="184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073763"/>
                </a:solidFill>
              </a:rPr>
              <a:t>Types of Boosting 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b="1" sz="2600">
              <a:solidFill>
                <a:srgbClr val="073763"/>
              </a:solidFill>
            </a:endParaRPr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474550" y="826625"/>
            <a:ext cx="8357700" cy="43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There are many boosting algorithms.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The three algorithms we are discussing are: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1. AdaBoost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Adaptive Boosting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2. XGBoost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Extreme Gradient Boosting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3. LightGBM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Light Gradient Boosting Machine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All three use the basic idea of </a:t>
            </a:r>
            <a:r>
              <a:rPr b="1" lang="en-GB" sz="1400">
                <a:solidFill>
                  <a:schemeClr val="dk1"/>
                </a:solidFill>
              </a:rPr>
              <a:t>building multiple models sequentially</a:t>
            </a:r>
            <a:r>
              <a:rPr lang="en-GB" sz="1400">
                <a:solidFill>
                  <a:schemeClr val="dk1"/>
                </a:solidFill>
              </a:rPr>
              <a:t>, but their methods are different.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-13400"/>
            <a:ext cx="308075" cy="51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403550" y="184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073763"/>
                </a:solidFill>
              </a:rPr>
              <a:t>AdaBoost=Adaptive Boosting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b="1" sz="2600">
              <a:solidFill>
                <a:srgbClr val="073763"/>
              </a:solidFill>
            </a:endParaRPr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93150" y="757500"/>
            <a:ext cx="8357700" cy="43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AdaBoost was one of the important early boosting algorithms.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How does it work?</a:t>
            </a:r>
            <a:endParaRPr b="1" sz="1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 sz="1400">
                <a:solidFill>
                  <a:schemeClr val="dk1"/>
                </a:solidFill>
              </a:rPr>
              <a:t>Start with training data.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 sz="1400">
                <a:solidFill>
                  <a:schemeClr val="dk1"/>
                </a:solidFill>
              </a:rPr>
              <a:t>Train the first weak learner.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 sz="1400">
                <a:solidFill>
                  <a:schemeClr val="dk1"/>
                </a:solidFill>
              </a:rPr>
              <a:t>Find the incorrectly predicted observations.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 sz="1400">
                <a:solidFill>
                  <a:schemeClr val="dk1"/>
                </a:solidFill>
              </a:rPr>
              <a:t>Give more importance to those observations.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 sz="1400">
                <a:solidFill>
                  <a:schemeClr val="dk1"/>
                </a:solidFill>
              </a:rPr>
              <a:t>Train the next learner.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 sz="1400">
                <a:solidFill>
                  <a:schemeClr val="dk1"/>
                </a:solidFill>
              </a:rPr>
              <a:t>Repeat the process.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 sz="1400">
                <a:solidFill>
                  <a:schemeClr val="dk1"/>
                </a:solidFill>
              </a:rPr>
              <a:t>Combine all learners for the final prediction.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Main idea:</a:t>
            </a:r>
            <a:endParaRPr b="1" sz="16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Focus more on the mistakes.</a:t>
            </a:r>
            <a:endParaRPr b="1"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rPr b="1" lang="en-GB" sz="14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-13400"/>
            <a:ext cx="308075" cy="51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403550" y="184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073763"/>
                </a:solidFill>
              </a:rPr>
              <a:t>AdaBoost Example  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b="1" sz="2600">
              <a:solidFill>
                <a:srgbClr val="073763"/>
              </a:solidFill>
            </a:endParaRPr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93150" y="757500"/>
            <a:ext cx="8357700" cy="43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Suppose we have 10 students. The first decision tree predicts: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7 students → Correct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3 students → Wrong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AdaBoost says:</a:t>
            </a:r>
            <a:endParaRPr sz="1100"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"These 3 students are difficult. Give them more importance."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Then the next tree concentrates more on those students.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Tree 1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Find mistakes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Increase importance of mistakes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Tree 2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Find remaining mistakes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Tree 3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Final Prediction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Key point: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AdaBoost adapts to mistakes.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-13400"/>
            <a:ext cx="308075" cy="51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03550" y="184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073763"/>
                </a:solidFill>
              </a:rPr>
              <a:t>XGBoost = Extreme Gradient Boosting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073763"/>
                </a:solidFill>
              </a:rPr>
              <a:t>  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b="1" sz="2600">
              <a:solidFill>
                <a:srgbClr val="073763"/>
              </a:solidFill>
            </a:endParaRPr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93150" y="757500"/>
            <a:ext cx="8357700" cy="43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XGBoost is a highly optimized version of </a:t>
            </a:r>
            <a:r>
              <a:rPr b="1" lang="en-GB" sz="1600">
                <a:solidFill>
                  <a:schemeClr val="dk1"/>
                </a:solidFill>
              </a:rPr>
              <a:t>gradient boosting</a:t>
            </a:r>
            <a:r>
              <a:rPr lang="en-GB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It is one of the most popular algorithms for </a:t>
            </a:r>
            <a:r>
              <a:rPr b="1" lang="en-GB" sz="1600">
                <a:solidFill>
                  <a:schemeClr val="dk1"/>
                </a:solidFill>
              </a:rPr>
              <a:t>structured/tabular data</a:t>
            </a:r>
            <a:r>
              <a:rPr lang="en-GB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How does it work?</a:t>
            </a:r>
            <a:endParaRPr b="1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Build the first tree.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Calculate the prediction error.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Build another tree to reduce that error.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Continue adding trees.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Combine all trees to produce the final prediction.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Main idea:</a:t>
            </a:r>
            <a:endParaRPr b="1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Each new tree tries to correct the errors of the previous model.</a:t>
            </a:r>
            <a:endParaRPr b="1"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-13400"/>
            <a:ext cx="308075" cy="51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403550" y="184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073763"/>
                </a:solidFill>
              </a:rPr>
              <a:t>XGBoost Regression Example 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073763"/>
                </a:solidFill>
              </a:rPr>
              <a:t>  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b="1" sz="2600">
              <a:solidFill>
                <a:srgbClr val="073763"/>
              </a:solidFill>
            </a:endParaRPr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93150" y="757500"/>
            <a:ext cx="8357700" cy="43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Let's predict </a:t>
            </a:r>
            <a:r>
              <a:rPr b="1" lang="en-GB" sz="1100">
                <a:solidFill>
                  <a:schemeClr val="dk1"/>
                </a:solidFill>
              </a:rPr>
              <a:t>insurance charges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Suppose: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Actual </a:t>
            </a:r>
            <a:r>
              <a:rPr b="1" lang="en-GB" sz="1300">
                <a:solidFill>
                  <a:schemeClr val="dk1"/>
                </a:solidFill>
              </a:rPr>
              <a:t>charge: </a:t>
            </a:r>
            <a:r>
              <a:rPr b="1" lang="en-GB" sz="1100">
                <a:solidFill>
                  <a:schemeClr val="dk1"/>
                </a:solidFill>
              </a:rPr>
              <a:t>₹20,000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First tree predicts: </a:t>
            </a:r>
            <a:r>
              <a:rPr b="1" lang="en-GB" sz="1100">
                <a:solidFill>
                  <a:schemeClr val="dk1"/>
                </a:solidFill>
              </a:rPr>
              <a:t>₹14,000; </a:t>
            </a:r>
            <a:r>
              <a:rPr lang="en-GB" sz="1100">
                <a:solidFill>
                  <a:schemeClr val="dk1"/>
                </a:solidFill>
              </a:rPr>
              <a:t>Error: </a:t>
            </a:r>
            <a:r>
              <a:rPr b="1" lang="en-GB" sz="1100">
                <a:solidFill>
                  <a:schemeClr val="dk1"/>
                </a:solidFill>
              </a:rPr>
              <a:t>₹6,000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The next tree tries to learn this error.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Tree 1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Prediction = ₹14,000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Error = ₹6,000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Tree 2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Corrects part of the error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Prediction = ₹18,000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Tree 3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Further correction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Prediction ≈ ₹20,000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So the final prediction is created by </a:t>
            </a:r>
            <a:r>
              <a:rPr b="1" lang="en-GB" sz="1100">
                <a:solidFill>
                  <a:schemeClr val="dk1"/>
                </a:solidFill>
              </a:rPr>
              <a:t>adding improvements from multiple trees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-13400"/>
            <a:ext cx="308075" cy="51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403550" y="184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073763"/>
                </a:solidFill>
              </a:rPr>
              <a:t>Important XGBoost Features </a:t>
            </a:r>
            <a:r>
              <a:rPr b="1" lang="en-GB" sz="2600">
                <a:solidFill>
                  <a:srgbClr val="073763"/>
                </a:solidFill>
              </a:rPr>
              <a:t> 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073763"/>
                </a:solidFill>
              </a:rPr>
              <a:t>  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b="1" sz="2600">
              <a:solidFill>
                <a:srgbClr val="073763"/>
              </a:solidFill>
            </a:endParaRPr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93150" y="757500"/>
            <a:ext cx="8357700" cy="43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</a:rPr>
              <a:t>XGBoost is popular because it provides: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High prediction performance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Gradient boosting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Regularization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Handling of complex relationships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Good performance on tabular data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Efficient training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Many hyperparameters for tuning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900">
                <a:solidFill>
                  <a:schemeClr val="dk1"/>
                </a:solidFill>
              </a:rPr>
              <a:t>Regularization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</a:rPr>
              <a:t>Regularization helps control model complexity and can help reduce </a:t>
            </a:r>
            <a:r>
              <a:rPr b="1" lang="en-GB" sz="1700">
                <a:solidFill>
                  <a:schemeClr val="dk1"/>
                </a:solidFill>
              </a:rPr>
              <a:t>overfitting</a:t>
            </a:r>
            <a:r>
              <a:rPr lang="en-GB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-13400"/>
            <a:ext cx="308075" cy="51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403550" y="184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073763"/>
                </a:solidFill>
              </a:rPr>
              <a:t>LightGBM = Light Gradient Boosting</a:t>
            </a:r>
            <a:r>
              <a:rPr b="1" lang="en-GB" sz="1700"/>
              <a:t> </a:t>
            </a:r>
            <a:r>
              <a:rPr b="1" lang="en-GB" sz="2600">
                <a:solidFill>
                  <a:srgbClr val="073763"/>
                </a:solidFill>
              </a:rPr>
              <a:t>Machine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073763"/>
                </a:solidFill>
              </a:rPr>
              <a:t>  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b="1" sz="2600">
              <a:solidFill>
                <a:srgbClr val="073763"/>
              </a:solidFill>
            </a:endParaRPr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93150" y="757500"/>
            <a:ext cx="8357700" cy="43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dk1"/>
                </a:solidFill>
              </a:rPr>
              <a:t>LightGBM is a gradient boosting framework developed by </a:t>
            </a:r>
            <a:r>
              <a:rPr b="1" lang="en-GB" sz="2100">
                <a:solidFill>
                  <a:schemeClr val="dk1"/>
                </a:solidFill>
              </a:rPr>
              <a:t>Microsoft</a:t>
            </a:r>
            <a:r>
              <a:rPr lang="en-GB" sz="2100">
                <a:solidFill>
                  <a:schemeClr val="dk1"/>
                </a:solidFill>
              </a:rPr>
              <a:t>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dk1"/>
                </a:solidFill>
              </a:rPr>
              <a:t>Its main focus is: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00">
                <a:solidFill>
                  <a:schemeClr val="dk1"/>
                </a:solidFill>
              </a:rPr>
              <a:t>Speed + Memory Efficiency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dk1"/>
                </a:solidFill>
              </a:rPr>
              <a:t>It is especially useful when we have: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GB" sz="2100">
                <a:solidFill>
                  <a:schemeClr val="dk1"/>
                </a:solidFill>
              </a:rPr>
              <a:t>Large datasets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GB" sz="2100">
                <a:solidFill>
                  <a:schemeClr val="dk1"/>
                </a:solidFill>
              </a:rPr>
              <a:t>Many rows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GB" sz="2100">
                <a:solidFill>
                  <a:schemeClr val="dk1"/>
                </a:solidFill>
              </a:rPr>
              <a:t>Many features</a:t>
            </a:r>
            <a:endParaRPr sz="2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</p:txBody>
      </p:sp>
      <p:pic>
        <p:nvPicPr>
          <p:cNvPr id="125" name="Google Shape;12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-13400"/>
            <a:ext cx="308075" cy="51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403550" y="184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073763"/>
                </a:solidFill>
              </a:rPr>
              <a:t>How LightGBM Works 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073763"/>
                </a:solidFill>
              </a:rPr>
              <a:t>  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b="1" sz="2600">
              <a:solidFill>
                <a:srgbClr val="073763"/>
              </a:solidFill>
            </a:endParaRPr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93150" y="757500"/>
            <a:ext cx="8357700" cy="43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LightGBM uses an important technique called: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Histogram-based learning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Instead of considering every individual value, it groups values into bins.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For example: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Age values: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18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19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20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21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22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...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LightGBM can group them into ranges such as: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18–25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26–35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36–45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46–55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56+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This can make the training process faster.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132" name="Google Shape;1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-13400"/>
            <a:ext cx="308075" cy="51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403550" y="184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073763"/>
                </a:solidFill>
              </a:rPr>
              <a:t>LightGBM Tree Growth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073763"/>
                </a:solidFill>
              </a:rPr>
              <a:t> 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073763"/>
                </a:solidFill>
              </a:rPr>
              <a:t>  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b="1" sz="2600">
              <a:solidFill>
                <a:srgbClr val="073763"/>
              </a:solidFill>
            </a:endParaRPr>
          </a:p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393150" y="757500"/>
            <a:ext cx="8357700" cy="43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One important difference is </a:t>
            </a:r>
            <a:r>
              <a:rPr b="1" lang="en-GB" sz="1100">
                <a:solidFill>
                  <a:schemeClr val="dk1"/>
                </a:solidFill>
              </a:rPr>
              <a:t>leaf-wise tree growth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Traditional level-wise approach:</a:t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       Root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       /    \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      A      B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     / \    / \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              C   D  E   F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LightGBM: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It chooses the leaf that provides the </a:t>
            </a:r>
            <a:r>
              <a:rPr b="1" lang="en-GB" sz="1100">
                <a:solidFill>
                  <a:schemeClr val="dk1"/>
                </a:solidFill>
              </a:rPr>
              <a:t>largest reduction in loss</a:t>
            </a:r>
            <a:r>
              <a:rPr lang="en-GB" sz="1100">
                <a:solidFill>
                  <a:schemeClr val="dk1"/>
                </a:solidFill>
              </a:rPr>
              <a:t> and grows that leaf.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Benefit: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It can achieve good accuracy efficiently.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Caution: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Leaf-wise growth can overfit, especially on small datasets, so hyperparameter tuning is important.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39" name="Google Shape;13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-13400"/>
            <a:ext cx="308075" cy="51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403550" y="184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073763"/>
                </a:solidFill>
              </a:rPr>
              <a:t>AdaBoost vs XGBoost vs LightGBM 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073763"/>
                </a:solidFill>
              </a:rPr>
              <a:t> 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073763"/>
                </a:solidFill>
              </a:rPr>
              <a:t>  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b="1" sz="2600">
              <a:solidFill>
                <a:srgbClr val="073763"/>
              </a:solidFill>
            </a:endParaRPr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393150" y="757500"/>
            <a:ext cx="8357700" cy="43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46" name="Google Shape;14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-13400"/>
            <a:ext cx="308075" cy="515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050" y="757488"/>
            <a:ext cx="7505700" cy="406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403550" y="184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073763"/>
                </a:solidFill>
              </a:rPr>
              <a:t>Simple Difference</a:t>
            </a:r>
            <a:r>
              <a:rPr b="1" lang="en-GB" sz="2600">
                <a:solidFill>
                  <a:srgbClr val="073763"/>
                </a:solidFill>
              </a:rPr>
              <a:t> </a:t>
            </a:r>
            <a:endParaRPr b="1" sz="26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073763"/>
                </a:solidFill>
              </a:rPr>
              <a:t> </a:t>
            </a:r>
            <a:endParaRPr b="1" sz="26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073763"/>
                </a:solidFill>
              </a:rPr>
              <a:t>  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b="1" sz="2600">
              <a:solidFill>
                <a:srgbClr val="073763"/>
              </a:solidFill>
            </a:endParaRPr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93150" y="757500"/>
            <a:ext cx="8357700" cy="43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Remember it like this: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AdaBoost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"Focus on the difficult examples."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XGBoost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"Correct the previous errors using gradients."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LightGBM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"Do gradient boosting quickly and efficiently."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This is a very good slide to remember for your presentation.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54" name="Google Shape;15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-13400"/>
            <a:ext cx="308075" cy="51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/>
          <p:nvPr/>
        </p:nvSpPr>
        <p:spPr>
          <a:xfrm>
            <a:off x="691426" y="1962150"/>
            <a:ext cx="8285093" cy="121997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1">
                <a:ln cap="flat" cmpd="sng" w="9525">
                  <a:solidFill>
                    <a:srgbClr val="9900FF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Arial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